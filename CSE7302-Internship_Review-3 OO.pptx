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87" r:id="rId15"/>
    <p:sldId id="288" r:id="rId16"/>
    <p:sldId id="289" r:id="rId17"/>
    <p:sldId id="290" r:id="rId18"/>
    <p:sldId id="277" r:id="rId19"/>
    <p:sldId id="280" r:id="rId20"/>
    <p:sldId id="283" r:id="rId21"/>
    <p:sldId id="281" r:id="rId22"/>
    <p:sldId id="284" r:id="rId23"/>
    <p:sldId id="282" r:id="rId24"/>
    <p:sldId id="285" r:id="rId25"/>
    <p:sldId id="286" r:id="rId26"/>
    <p:sldId id="266" r:id="rId27"/>
    <p:sldId id="267" r:id="rId28"/>
    <p:sldId id="268" r:id="rId29"/>
    <p:sldId id="26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9" d="100"/>
          <a:sy n="89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Designing system architecture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48C648A3-C8FD-43F0-B698-A07DB3DCAB66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Learning basics of Face Recognition and AI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B830CD12-E303-42F8-BC6C-428883ECAC33}" type="parTrans" cxnId="{B648229F-F2D4-4EBF-ACF4-AD3C4D08459E}">
      <dgm:prSet/>
      <dgm:spPr/>
      <dgm:t>
        <a:bodyPr/>
        <a:lstStyle/>
        <a:p>
          <a:endParaRPr lang="en-IN"/>
        </a:p>
      </dgm:t>
    </dgm:pt>
    <dgm:pt modelId="{CFF5EC4E-770F-449D-9879-34CA591337F1}" type="sibTrans" cxnId="{B648229F-F2D4-4EBF-ACF4-AD3C4D08459E}">
      <dgm:prSet/>
      <dgm:spPr/>
      <dgm:t>
        <a:bodyPr/>
        <a:lstStyle/>
        <a:p>
          <a:endParaRPr lang="en-IN"/>
        </a:p>
      </dgm:t>
    </dgm:pt>
    <dgm:pt modelId="{DD22D25B-0E06-4F5C-80E4-1BD744485501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9D488271-C6FE-4BC7-BA1C-5B11C3F717A6}" type="parTrans" cxnId="{9BACD39A-0D4D-445F-8FD3-28C7D489C2DE}">
      <dgm:prSet/>
      <dgm:spPr/>
      <dgm:t>
        <a:bodyPr/>
        <a:lstStyle/>
        <a:p>
          <a:endParaRPr lang="en-IN"/>
        </a:p>
      </dgm:t>
    </dgm:pt>
    <dgm:pt modelId="{CC3E38C6-31D2-446E-8B23-61A0D57A414A}" type="sibTrans" cxnId="{9BACD39A-0D4D-445F-8FD3-28C7D489C2DE}">
      <dgm:prSet/>
      <dgm:spPr/>
      <dgm:t>
        <a:bodyPr/>
        <a:lstStyle/>
        <a:p>
          <a:endParaRPr lang="en-IN"/>
        </a:p>
      </dgm:t>
    </dgm:pt>
    <dgm:pt modelId="{6A2032D1-77BF-47C7-B29A-66BADB7AD471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  <a:endParaRPr lang="en-IN" dirty="0"/>
        </a:p>
      </dgm:t>
    </dgm:pt>
    <dgm:pt modelId="{A91FD54A-5D99-4F1C-9E28-4B8BABA8AD4D}" type="parTrans" cxnId="{BB5C2A29-E4F1-4DDD-A8E3-8AE82C9E0791}">
      <dgm:prSet/>
      <dgm:spPr/>
      <dgm:t>
        <a:bodyPr/>
        <a:lstStyle/>
        <a:p>
          <a:endParaRPr lang="en-IN"/>
        </a:p>
      </dgm:t>
    </dgm:pt>
    <dgm:pt modelId="{ED8FD379-1A86-4558-AC90-9EE4E8910977}" type="sibTrans" cxnId="{BB5C2A29-E4F1-4DDD-A8E3-8AE82C9E0791}">
      <dgm:prSet/>
      <dgm:spPr/>
      <dgm:t>
        <a:bodyPr/>
        <a:lstStyle/>
        <a:p>
          <a:endParaRPr lang="en-IN"/>
        </a:p>
      </dgm:t>
    </dgm:pt>
    <dgm:pt modelId="{F2F08B6E-204F-4E12-A256-7B104FC897B0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Learning basics of Face Recognition and AI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B751F263-A573-4E8D-BAA8-708BAAC2CC19}" type="parTrans" cxnId="{B7F11AF2-20C9-4434-A087-429F55FA4583}">
      <dgm:prSet/>
      <dgm:spPr/>
      <dgm:t>
        <a:bodyPr/>
        <a:lstStyle/>
        <a:p>
          <a:endParaRPr lang="en-IN"/>
        </a:p>
      </dgm:t>
    </dgm:pt>
    <dgm:pt modelId="{BC1A7BF1-57C9-4192-AA2D-4640BF4C54BA}" type="sibTrans" cxnId="{B7F11AF2-20C9-4434-A087-429F55FA4583}">
      <dgm:prSet/>
      <dgm:spPr/>
      <dgm:t>
        <a:bodyPr/>
        <a:lstStyle/>
        <a:p>
          <a:endParaRPr lang="en-IN"/>
        </a:p>
      </dgm:t>
    </dgm:pt>
    <dgm:pt modelId="{B7A1ED8F-483B-4010-9724-26083E59FEBF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089C5D94-4009-4504-8FD2-5111248C7734}" type="parTrans" cxnId="{0F10DC7D-C901-40CB-A9F2-633FE2E96F6E}">
      <dgm:prSet/>
      <dgm:spPr/>
      <dgm:t>
        <a:bodyPr/>
        <a:lstStyle/>
        <a:p>
          <a:endParaRPr lang="en-IN"/>
        </a:p>
      </dgm:t>
    </dgm:pt>
    <dgm:pt modelId="{77E8797E-D7BC-46BA-8AAA-013C5C0D673C}" type="sibTrans" cxnId="{0F10DC7D-C901-40CB-A9F2-633FE2E96F6E}">
      <dgm:prSet/>
      <dgm:spPr/>
      <dgm:t>
        <a:bodyPr/>
        <a:lstStyle/>
        <a:p>
          <a:endParaRPr lang="en-IN"/>
        </a:p>
      </dgm:t>
    </dgm:pt>
    <dgm:pt modelId="{8C0A20F4-68FF-4205-B57A-3A5A5F0C10F6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gm:t>
    </dgm:pt>
    <dgm:pt modelId="{195AC951-932A-449F-949D-F7EBCD70658E}" type="parTrans" cxnId="{C757E4ED-CC41-4317-A484-053E1445D83A}">
      <dgm:prSet/>
      <dgm:spPr/>
      <dgm:t>
        <a:bodyPr/>
        <a:lstStyle/>
        <a:p>
          <a:endParaRPr lang="en-IN"/>
        </a:p>
      </dgm:t>
    </dgm:pt>
    <dgm:pt modelId="{3A053721-FC03-4D3E-9BB3-5429B66D4547}" type="sibTrans" cxnId="{C757E4ED-CC41-4317-A484-053E1445D83A}">
      <dgm:prSet/>
      <dgm:spPr/>
      <dgm:t>
        <a:bodyPr/>
        <a:lstStyle/>
        <a:p>
          <a:endParaRPr lang="en-IN"/>
        </a:p>
      </dgm:t>
    </dgm:pt>
    <dgm:pt modelId="{563E3ECE-9356-4B87-982C-8561EF942A8B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Developing backend using Flask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9BEF4D68-DE24-449C-90FB-75F14667362D}" type="parTrans" cxnId="{B3BEB7E9-F147-4342-95A5-E6D2D157B30E}">
      <dgm:prSet/>
      <dgm:spPr/>
      <dgm:t>
        <a:bodyPr/>
        <a:lstStyle/>
        <a:p>
          <a:endParaRPr lang="en-IN"/>
        </a:p>
      </dgm:t>
    </dgm:pt>
    <dgm:pt modelId="{A1DBC110-78B1-422F-AEEC-191B47D12B98}" type="sibTrans" cxnId="{B3BEB7E9-F147-4342-95A5-E6D2D157B30E}">
      <dgm:prSet/>
      <dgm:spPr/>
      <dgm:t>
        <a:bodyPr/>
        <a:lstStyle/>
        <a:p>
          <a:endParaRPr lang="en-IN"/>
        </a:p>
      </dgm:t>
    </dgm:pt>
    <dgm:pt modelId="{96605B8B-29FE-4BAF-8A02-B844F56B00DA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Creating frontend using React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57F3AA80-FF22-4C77-8CD0-79C07FF66176}" type="parTrans" cxnId="{68D5CE71-2886-4E75-8603-41964D64CF94}">
      <dgm:prSet/>
      <dgm:spPr/>
      <dgm:t>
        <a:bodyPr/>
        <a:lstStyle/>
        <a:p>
          <a:endParaRPr lang="en-IN"/>
        </a:p>
      </dgm:t>
    </dgm:pt>
    <dgm:pt modelId="{9E579AB5-5FC7-4D0A-AFB8-5AD5B0E07BD7}" type="sibTrans" cxnId="{68D5CE71-2886-4E75-8603-41964D64CF94}">
      <dgm:prSet/>
      <dgm:spPr/>
      <dgm:t>
        <a:bodyPr/>
        <a:lstStyle/>
        <a:p>
          <a:endParaRPr lang="en-IN"/>
        </a:p>
      </dgm:t>
    </dgm:pt>
    <dgm:pt modelId="{045A5D7F-C2AB-4191-BA8F-47AA8FEC83E0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Dataset collection and face encoding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5B2FA718-49A9-4090-A109-777F17DD0A32}" type="parTrans" cxnId="{6F8C10AF-260C-41A6-B340-2668033FE3BB}">
      <dgm:prSet/>
      <dgm:spPr/>
      <dgm:t>
        <a:bodyPr/>
        <a:lstStyle/>
        <a:p>
          <a:endParaRPr lang="en-IN"/>
        </a:p>
      </dgm:t>
    </dgm:pt>
    <dgm:pt modelId="{2592FFED-CF28-40BA-AF9F-556275DF9250}" type="sibTrans" cxnId="{6F8C10AF-260C-41A6-B340-2668033FE3BB}">
      <dgm:prSet/>
      <dgm:spPr/>
      <dgm:t>
        <a:bodyPr/>
        <a:lstStyle/>
        <a:p>
          <a:endParaRPr lang="en-IN"/>
        </a:p>
      </dgm:t>
    </dgm:pt>
    <dgm:pt modelId="{A403D956-3910-4752-9950-F3388DFF179A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Git Hub repository setup</a:t>
          </a:r>
        </a:p>
      </dgm:t>
    </dgm:pt>
    <dgm:pt modelId="{CB22B286-AD1E-4B1D-AE76-CEC61919C575}" type="parTrans" cxnId="{A829F688-A748-4A5E-98A7-5B321FD7788C}">
      <dgm:prSet/>
      <dgm:spPr/>
      <dgm:t>
        <a:bodyPr/>
        <a:lstStyle/>
        <a:p>
          <a:endParaRPr lang="en-IN"/>
        </a:p>
      </dgm:t>
    </dgm:pt>
    <dgm:pt modelId="{347F74E1-84FF-42FE-88B8-A95213F805E7}" type="sibTrans" cxnId="{A829F688-A748-4A5E-98A7-5B321FD7788C}">
      <dgm:prSet/>
      <dgm:spPr/>
      <dgm:t>
        <a:bodyPr/>
        <a:lstStyle/>
        <a:p>
          <a:endParaRPr lang="en-IN"/>
        </a:p>
      </dgm:t>
    </dgm:pt>
    <dgm:pt modelId="{416D090E-C2E6-4B30-ADA7-2E1319AF039B}">
      <dgm:prSet phldrT="[Text]"/>
      <dgm:spPr/>
      <dgm:t>
        <a:bodyPr/>
        <a:lstStyle/>
        <a:p>
          <a:r>
            <a:rPr lang="en-US" dirty="0"/>
            <a:t>Integrating frontend with backend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A70195-3D59-43D3-8134-26216D13AEA7}" type="parTrans" cxnId="{331BB710-0CE1-46AB-929B-058A23D89267}">
      <dgm:prSet/>
      <dgm:spPr/>
      <dgm:t>
        <a:bodyPr/>
        <a:lstStyle/>
        <a:p>
          <a:endParaRPr lang="en-IN"/>
        </a:p>
      </dgm:t>
    </dgm:pt>
    <dgm:pt modelId="{FC04E33E-2946-4CE5-A6FD-9739FF59DA3A}" type="sibTrans" cxnId="{331BB710-0CE1-46AB-929B-058A23D89267}">
      <dgm:prSet/>
      <dgm:spPr/>
      <dgm:t>
        <a:bodyPr/>
        <a:lstStyle/>
        <a:p>
          <a:endParaRPr lang="en-IN"/>
        </a:p>
      </dgm:t>
    </dgm:pt>
    <dgm:pt modelId="{DCB4C461-15BD-42C3-B566-D7F7ABBC5938}">
      <dgm:prSet/>
      <dgm:spPr/>
      <dgm:t>
        <a:bodyPr/>
        <a:lstStyle/>
        <a:p>
          <a:r>
            <a:rPr lang="en-US"/>
            <a:t>Implementing live camera recognition</a:t>
          </a:r>
          <a:endParaRPr lang="en-US" dirty="0"/>
        </a:p>
      </dgm:t>
    </dgm:pt>
    <dgm:pt modelId="{FCD70C09-4CCD-48E6-A35F-A2D7351F5178}" type="parTrans" cxnId="{F79B1EE6-22C2-49B1-93E9-EE54E94837FA}">
      <dgm:prSet/>
      <dgm:spPr/>
      <dgm:t>
        <a:bodyPr/>
        <a:lstStyle/>
        <a:p>
          <a:endParaRPr lang="en-IN"/>
        </a:p>
      </dgm:t>
    </dgm:pt>
    <dgm:pt modelId="{0E2C23F1-312C-46B7-8C00-EB0FF73CD32A}" type="sibTrans" cxnId="{F79B1EE6-22C2-49B1-93E9-EE54E94837FA}">
      <dgm:prSet/>
      <dgm:spPr/>
      <dgm:t>
        <a:bodyPr/>
        <a:lstStyle/>
        <a:p>
          <a:endParaRPr lang="en-IN"/>
        </a:p>
      </dgm:t>
    </dgm:pt>
    <dgm:pt modelId="{3E624DA9-8DA0-4C0F-8839-555AC51BB410}">
      <dgm:prSet/>
      <dgm:spPr/>
      <dgm:t>
        <a:bodyPr/>
        <a:lstStyle/>
        <a:p>
          <a:r>
            <a:rPr lang="en-US"/>
            <a:t>Testing face detection and attendance marking</a:t>
          </a:r>
          <a:endParaRPr lang="en-US" dirty="0"/>
        </a:p>
      </dgm:t>
    </dgm:pt>
    <dgm:pt modelId="{201C8DF5-35BB-4790-BE35-3F3B9000308E}" type="parTrans" cxnId="{D1634ACD-DAE8-4D18-99D7-BC6AC3626E0D}">
      <dgm:prSet/>
      <dgm:spPr/>
      <dgm:t>
        <a:bodyPr/>
        <a:lstStyle/>
        <a:p>
          <a:endParaRPr lang="en-IN"/>
        </a:p>
      </dgm:t>
    </dgm:pt>
    <dgm:pt modelId="{A12DB998-4872-45E6-9E79-B2DCA4BA1250}" type="sibTrans" cxnId="{D1634ACD-DAE8-4D18-99D7-BC6AC3626E0D}">
      <dgm:prSet/>
      <dgm:spPr/>
      <dgm:t>
        <a:bodyPr/>
        <a:lstStyle/>
        <a:p>
          <a:endParaRPr lang="en-IN"/>
        </a:p>
      </dgm:t>
    </dgm:pt>
    <dgm:pt modelId="{A17CD9F5-E94A-47B1-8D9A-66D9761C14CE}">
      <dgm:prSet/>
      <dgm:spPr/>
      <dgm:t>
        <a:bodyPr/>
        <a:lstStyle/>
        <a:p>
          <a:r>
            <a:rPr lang="en-US"/>
            <a:t>Improving accuracy and performance</a:t>
          </a:r>
          <a:endParaRPr lang="en-IN"/>
        </a:p>
      </dgm:t>
    </dgm:pt>
    <dgm:pt modelId="{541E8CBA-44A8-4737-8E02-10B7ECBDBD06}" type="parTrans" cxnId="{533CB239-3ECE-4D2F-8E80-9D9E25FCDC58}">
      <dgm:prSet/>
      <dgm:spPr/>
      <dgm:t>
        <a:bodyPr/>
        <a:lstStyle/>
        <a:p>
          <a:endParaRPr lang="en-IN"/>
        </a:p>
      </dgm:t>
    </dgm:pt>
    <dgm:pt modelId="{94707AD3-D63C-45A5-906D-791B1A34D38C}" type="sibTrans" cxnId="{533CB239-3ECE-4D2F-8E80-9D9E25FCDC58}">
      <dgm:prSet/>
      <dgm:spPr/>
      <dgm:t>
        <a:bodyPr/>
        <a:lstStyle/>
        <a:p>
          <a:endParaRPr lang="en-IN"/>
        </a:p>
      </dgm:t>
    </dgm:pt>
    <dgm:pt modelId="{93FAC282-2A06-4022-B014-672DEE0B8DF2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Complete system deployment</a:t>
          </a:r>
        </a:p>
      </dgm:t>
    </dgm:pt>
    <dgm:pt modelId="{76D83CF6-285A-48D8-B7D1-955FFEB5116F}" type="parTrans" cxnId="{55EA5F7A-8DD3-48F5-9C49-42F37D5B21F5}">
      <dgm:prSet/>
      <dgm:spPr/>
      <dgm:t>
        <a:bodyPr/>
        <a:lstStyle/>
        <a:p>
          <a:endParaRPr lang="en-IN"/>
        </a:p>
      </dgm:t>
    </dgm:pt>
    <dgm:pt modelId="{A91C9039-BED2-4CC3-8DC0-8FC1E0E67846}" type="sibTrans" cxnId="{55EA5F7A-8DD3-48F5-9C49-42F37D5B21F5}">
      <dgm:prSet/>
      <dgm:spPr/>
      <dgm:t>
        <a:bodyPr/>
        <a:lstStyle/>
        <a:p>
          <a:endParaRPr lang="en-IN"/>
        </a:p>
      </dgm:t>
    </dgm:pt>
    <dgm:pt modelId="{62FA8070-4844-4238-85C8-23D814FD1C00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Final testing and validation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61AF879B-5411-4BCA-8DE3-20FA3C9C45C0}" type="parTrans" cxnId="{B6D1402E-2A8B-4E4D-9D34-4229D7889669}">
      <dgm:prSet/>
      <dgm:spPr/>
      <dgm:t>
        <a:bodyPr/>
        <a:lstStyle/>
        <a:p>
          <a:endParaRPr lang="en-IN"/>
        </a:p>
      </dgm:t>
    </dgm:pt>
    <dgm:pt modelId="{7617B491-C37B-4DF6-B261-876DDD75E21E}" type="sibTrans" cxnId="{B6D1402E-2A8B-4E4D-9D34-4229D7889669}">
      <dgm:prSet/>
      <dgm:spPr/>
      <dgm:t>
        <a:bodyPr/>
        <a:lstStyle/>
        <a:p>
          <a:endParaRPr lang="en-IN"/>
        </a:p>
      </dgm:t>
    </dgm:pt>
    <dgm:pt modelId="{D9353DC7-B88A-4058-BFE3-9A95B765A4A5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Project demonstration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0B948859-5BF0-4C0F-8BA6-E2FF8E621CD1}" type="parTrans" cxnId="{2287D37E-624B-4292-8353-661020E640BB}">
      <dgm:prSet/>
      <dgm:spPr/>
      <dgm:t>
        <a:bodyPr/>
        <a:lstStyle/>
        <a:p>
          <a:endParaRPr lang="en-IN"/>
        </a:p>
      </dgm:t>
    </dgm:pt>
    <dgm:pt modelId="{2735436E-25E4-4A66-8C88-FB17DEB9CCAE}" type="sibTrans" cxnId="{2287D37E-624B-4292-8353-661020E640BB}">
      <dgm:prSet/>
      <dgm:spPr/>
      <dgm:t>
        <a:bodyPr/>
        <a:lstStyle/>
        <a:p>
          <a:endParaRPr lang="en-IN"/>
        </a:p>
      </dgm:t>
    </dgm:pt>
    <dgm:pt modelId="{340A46C0-01E5-4615-BE8B-8B702F1FA3E0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Final report submission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C6F82995-9B83-4399-95B7-2ED602B2842C}" type="parTrans" cxnId="{1E901BF6-2660-410C-ACB9-E4539F99D8C7}">
      <dgm:prSet/>
      <dgm:spPr/>
      <dgm:t>
        <a:bodyPr/>
        <a:lstStyle/>
        <a:p>
          <a:endParaRPr lang="en-IN"/>
        </a:p>
      </dgm:t>
    </dgm:pt>
    <dgm:pt modelId="{B436BB07-A63C-4998-93FE-3B4DD19FE7BC}" type="sibTrans" cxnId="{1E901BF6-2660-410C-ACB9-E4539F99D8C7}">
      <dgm:prSet/>
      <dgm:spPr/>
      <dgm:t>
        <a:bodyPr/>
        <a:lstStyle/>
        <a:p>
          <a:endParaRPr lang="en-IN"/>
        </a:p>
      </dgm:t>
    </dgm:pt>
    <dgm:pt modelId="{6A927E9D-76C8-4373-8354-88E8FBA5B5FD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Internship completion</a:t>
          </a:r>
          <a:endParaRPr lang="en-IN" dirty="0"/>
        </a:p>
      </dgm:t>
    </dgm:pt>
    <dgm:pt modelId="{683E3B82-66D1-41A3-ACC7-1813336B4936}" type="parTrans" cxnId="{5663A688-652D-4568-ABAE-C3AAF70520A2}">
      <dgm:prSet/>
      <dgm:spPr/>
      <dgm:t>
        <a:bodyPr/>
        <a:lstStyle/>
        <a:p>
          <a:endParaRPr lang="en-IN"/>
        </a:p>
      </dgm:t>
    </dgm:pt>
    <dgm:pt modelId="{10BD509F-DD8E-436E-A8B6-CA9D2370C010}" type="sibTrans" cxnId="{5663A688-652D-4568-ABAE-C3AAF70520A2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4B03E4CC-F9FB-446F-814A-68422A5B6775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E9AB1205-B9BA-4AAB-B401-6EC612149C68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B7C98A0-60DA-4897-B5E2-5081B486904F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02029A04-E420-419D-AE8C-536E11756D37}" type="presOf" srcId="{6A927E9D-76C8-4373-8354-88E8FBA5B5FD}" destId="{8CAE5A4D-0C7B-48A6-917B-0B8433D0574B}" srcOrd="0" destOrd="4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36E9DD0F-2A86-40D2-AAC0-762D39CAC2ED}" type="presOf" srcId="{6A2032D1-77BF-47C7-B29A-66BADB7AD471}" destId="{1C91D7E3-8940-4A33-9182-677DD5415901}" srcOrd="1" destOrd="3" presId="urn:microsoft.com/office/officeart/2011/layout/InterconnectedBlockProcess"/>
    <dgm:cxn modelId="{C43B0110-2CFA-4F63-84FD-9FB92A837289}" type="presOf" srcId="{48C648A3-C8FD-43F0-B698-A07DB3DCAB66}" destId="{1C91D7E3-8940-4A33-9182-677DD5415901}" srcOrd="1" destOrd="1" presId="urn:microsoft.com/office/officeart/2011/layout/InterconnectedBlockProcess"/>
    <dgm:cxn modelId="{331BB710-0CE1-46AB-929B-058A23D89267}" srcId="{5E92505A-51E0-4F78-B3C5-704ACF8710DE}" destId="{416D090E-C2E6-4B30-ADA7-2E1319AF039B}" srcOrd="0" destOrd="0" parTransId="{38A70195-3D59-43D3-8134-26216D13AEA7}" sibTransId="{FC04E33E-2946-4CE5-A6FD-9739FF59DA3A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73838A1F-697D-4BF8-942B-5D5BF52E2810}" type="presOf" srcId="{045A5D7F-C2AB-4191-BA8F-47AA8FEC83E0}" destId="{0D08ED52-6744-4369-B780-916B09984775}" srcOrd="1" destOrd="3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DA110426-414D-4C3F-B665-76002F1FE2A0}" type="presOf" srcId="{6A2032D1-77BF-47C7-B29A-66BADB7AD471}" destId="{A134CDD1-D85F-44EF-8BEE-9F99A855C1E6}" srcOrd="0" destOrd="3" presId="urn:microsoft.com/office/officeart/2011/layout/InterconnectedBlockProcess"/>
    <dgm:cxn modelId="{98292D26-9485-4351-9DB9-9AD963C9C587}" type="presOf" srcId="{563E3ECE-9356-4B87-982C-8561EF942A8B}" destId="{2532504F-5FE1-4C97-B485-F05E8885EACC}" srcOrd="0" destOrd="1" presId="urn:microsoft.com/office/officeart/2011/layout/InterconnectedBlockProcess"/>
    <dgm:cxn modelId="{67DA7328-2BFC-4AE8-BA94-73F9FB0C0B0A}" type="presOf" srcId="{A17CD9F5-E94A-47B1-8D9A-66D9761C14CE}" destId="{FC0F1314-3294-4A8C-8DCE-EB53E236164C}" srcOrd="0" destOrd="3" presId="urn:microsoft.com/office/officeart/2011/layout/InterconnectedBlockProcess"/>
    <dgm:cxn modelId="{BB5C2A29-E4F1-4DDD-A8E3-8AE82C9E0791}" srcId="{988D96B0-D16E-4763-B393-84178CF4FF50}" destId="{6A2032D1-77BF-47C7-B29A-66BADB7AD471}" srcOrd="3" destOrd="0" parTransId="{A91FD54A-5D99-4F1C-9E28-4B8BABA8AD4D}" sibTransId="{ED8FD379-1A86-4558-AC90-9EE4E8910977}"/>
    <dgm:cxn modelId="{B6D1402E-2A8B-4E4D-9D34-4229D7889669}" srcId="{65C051F6-A849-4495-A964-CD4C650B9C06}" destId="{62FA8070-4844-4238-85C8-23D814FD1C00}" srcOrd="1" destOrd="0" parTransId="{61AF879B-5411-4BCA-8DE3-20FA3C9C45C0}" sibTransId="{7617B491-C37B-4DF6-B261-876DDD75E21E}"/>
    <dgm:cxn modelId="{44228A36-96E3-44B6-B77C-FE9D06A4C084}" type="presOf" srcId="{93FAC282-2A06-4022-B014-672DEE0B8DF2}" destId="{E9AB1205-B9BA-4AAB-B401-6EC612149C68}" srcOrd="1" destOrd="0" presId="urn:microsoft.com/office/officeart/2011/layout/InterconnectedBlockProcess"/>
    <dgm:cxn modelId="{533CB239-3ECE-4D2F-8E80-9D9E25FCDC58}" srcId="{5E92505A-51E0-4F78-B3C5-704ACF8710DE}" destId="{A17CD9F5-E94A-47B1-8D9A-66D9761C14CE}" srcOrd="3" destOrd="0" parTransId="{541E8CBA-44A8-4737-8E02-10B7ECBDBD06}" sibTransId="{94707AD3-D63C-45A5-906D-791B1A34D38C}"/>
    <dgm:cxn modelId="{47C83A3A-7844-4344-96DB-4C9DA3FEEA1B}" type="presOf" srcId="{DD22D25B-0E06-4F5C-80E4-1BD744485501}" destId="{1C91D7E3-8940-4A33-9182-677DD5415901}" srcOrd="1" destOrd="2" presId="urn:microsoft.com/office/officeart/2011/layout/InterconnectedBlockProcess"/>
    <dgm:cxn modelId="{7041FF3B-C919-4AD5-BAD5-9C846E01A0C6}" type="presOf" srcId="{3E624DA9-8DA0-4C0F-8839-555AC51BB410}" destId="{FC0F1314-3294-4A8C-8DCE-EB53E236164C}" srcOrd="0" destOrd="2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9B99213F-89FB-4E6A-8758-A2193FB1276E}" type="presOf" srcId="{A17CD9F5-E94A-47B1-8D9A-66D9761C14CE}" destId="{98225A61-A0EC-450A-BED8-EF2E47E8FD18}" srcOrd="1" destOrd="3" presId="urn:microsoft.com/office/officeart/2011/layout/InterconnectedBlockProcess"/>
    <dgm:cxn modelId="{E96E0740-17A8-473C-AD45-D22238B962D0}" type="presOf" srcId="{48C648A3-C8FD-43F0-B698-A07DB3DCAB66}" destId="{A134CDD1-D85F-44EF-8BEE-9F99A855C1E6}" srcOrd="0" destOrd="1" presId="urn:microsoft.com/office/officeart/2011/layout/InterconnectedBlockProcess"/>
    <dgm:cxn modelId="{CEBBC15C-EAD9-43A7-8AFF-695455B7E4BE}" type="presOf" srcId="{DCB4C461-15BD-42C3-B566-D7F7ABBC5938}" destId="{FC0F1314-3294-4A8C-8DCE-EB53E236164C}" srcOrd="0" destOrd="1" presId="urn:microsoft.com/office/officeart/2011/layout/InterconnectedBlockProcess"/>
    <dgm:cxn modelId="{B7127A42-FE5D-4A97-B6F7-3DC4E944A398}" type="presOf" srcId="{3E624DA9-8DA0-4C0F-8839-555AC51BB410}" destId="{98225A61-A0EC-450A-BED8-EF2E47E8FD18}" srcOrd="1" destOrd="2" presId="urn:microsoft.com/office/officeart/2011/layout/InterconnectedBlockProcess"/>
    <dgm:cxn modelId="{46615244-A520-4A9F-9AC7-28319C501C0C}" type="presOf" srcId="{416D090E-C2E6-4B30-ADA7-2E1319AF039B}" destId="{98225A61-A0EC-450A-BED8-EF2E47E8FD18}" srcOrd="1" destOrd="0" presId="urn:microsoft.com/office/officeart/2011/layout/InterconnectedBlockProcess"/>
    <dgm:cxn modelId="{DB9AB66A-8128-4E06-B477-9FDB3B8FB46E}" type="presOf" srcId="{B7A1ED8F-483B-4010-9724-26083E59FEBF}" destId="{6BCCFBA6-7A43-4631-AD7F-AFB10E1E6CD7}" srcOrd="1" destOrd="2" presId="urn:microsoft.com/office/officeart/2011/layout/InterconnectedBlockProcess"/>
    <dgm:cxn modelId="{68D5CE71-2886-4E75-8603-41964D64CF94}" srcId="{A59EC69B-8F3F-425B-819F-E8C557946AEE}" destId="{96605B8B-29FE-4BAF-8A02-B844F56B00DA}" srcOrd="2" destOrd="0" parTransId="{57F3AA80-FF22-4C77-8CD0-79C07FF66176}" sibTransId="{9E579AB5-5FC7-4D0A-AFB8-5AD5B0E07BD7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B12C2F53-8A38-48EE-B633-CCA9622229A2}" type="presOf" srcId="{96605B8B-29FE-4BAF-8A02-B844F56B00DA}" destId="{2532504F-5FE1-4C97-B485-F05E8885EACC}" srcOrd="0" destOrd="2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5EA5F7A-8DD3-48F5-9C49-42F37D5B21F5}" srcId="{65C051F6-A849-4495-A964-CD4C650B9C06}" destId="{93FAC282-2A06-4022-B014-672DEE0B8DF2}" srcOrd="0" destOrd="0" parTransId="{76D83CF6-285A-48D8-B7D1-955FFEB5116F}" sibTransId="{A91C9039-BED2-4CC3-8DC0-8FC1E0E67846}"/>
    <dgm:cxn modelId="{147FAD5A-7BBC-49A1-A6B5-136CEC720EAE}" type="presOf" srcId="{65C051F6-A849-4495-A964-CD4C650B9C06}" destId="{2B7C98A0-60DA-4897-B5E2-5081B486904F}" srcOrd="0" destOrd="0" presId="urn:microsoft.com/office/officeart/2011/layout/InterconnectedBlockProcess"/>
    <dgm:cxn modelId="{F93EF97B-3718-4C74-B263-70EAF1F0B7ED}" type="presOf" srcId="{DD22D25B-0E06-4F5C-80E4-1BD744485501}" destId="{A134CDD1-D85F-44EF-8BEE-9F99A855C1E6}" srcOrd="0" destOrd="2" presId="urn:microsoft.com/office/officeart/2011/layout/InterconnectedBlockProcess"/>
    <dgm:cxn modelId="{C824FD7C-6232-4F6B-80D1-433A06C3AEA0}" type="presOf" srcId="{62FA8070-4844-4238-85C8-23D814FD1C00}" destId="{E9AB1205-B9BA-4AAB-B401-6EC612149C68}" srcOrd="1" destOrd="1" presId="urn:microsoft.com/office/officeart/2011/layout/InterconnectedBlockProcess"/>
    <dgm:cxn modelId="{0F10DC7D-C901-40CB-A9F2-633FE2E96F6E}" srcId="{7B3055AA-BF7C-46D0-9A9E-60087B9F57B4}" destId="{B7A1ED8F-483B-4010-9724-26083E59FEBF}" srcOrd="2" destOrd="0" parTransId="{089C5D94-4009-4504-8FD2-5111248C7734}" sibTransId="{77E8797E-D7BC-46BA-8AAA-013C5C0D673C}"/>
    <dgm:cxn modelId="{2287D37E-624B-4292-8353-661020E640BB}" srcId="{65C051F6-A849-4495-A964-CD4C650B9C06}" destId="{D9353DC7-B88A-4058-BFE3-9A95B765A4A5}" srcOrd="2" destOrd="0" parTransId="{0B948859-5BF0-4C0F-8BA6-E2FF8E621CD1}" sibTransId="{2735436E-25E4-4A66-8C88-FB17DEB9CCAE}"/>
    <dgm:cxn modelId="{5663A688-652D-4568-ABAE-C3AAF70520A2}" srcId="{65C051F6-A849-4495-A964-CD4C650B9C06}" destId="{6A927E9D-76C8-4373-8354-88E8FBA5B5FD}" srcOrd="4" destOrd="0" parTransId="{683E3B82-66D1-41A3-ACC7-1813336B4936}" sibTransId="{10BD509F-DD8E-436E-A8B6-CA9D2370C010}"/>
    <dgm:cxn modelId="{A829F688-A748-4A5E-98A7-5B321FD7788C}" srcId="{A59EC69B-8F3F-425B-819F-E8C557946AEE}" destId="{A403D956-3910-4752-9950-F3388DFF179A}" srcOrd="4" destOrd="0" parTransId="{CB22B286-AD1E-4B1D-AE76-CEC61919C575}" sibTransId="{347F74E1-84FF-42FE-88B8-A95213F805E7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94200391-589E-4608-933C-7A993BAA1FF2}" type="presOf" srcId="{340A46C0-01E5-4615-BE8B-8B702F1FA3E0}" destId="{E9AB1205-B9BA-4AAB-B401-6EC612149C68}" srcOrd="1" destOrd="3" presId="urn:microsoft.com/office/officeart/2011/layout/InterconnectedBlockProcess"/>
    <dgm:cxn modelId="{71398B91-F05C-42C2-AD1E-16C226B29034}" type="presOf" srcId="{A403D956-3910-4752-9950-F3388DFF179A}" destId="{0D08ED52-6744-4369-B780-916B09984775}" srcOrd="1" destOrd="4" presId="urn:microsoft.com/office/officeart/2011/layout/InterconnectedBlockProcess"/>
    <dgm:cxn modelId="{1D800E93-4D4D-4F3D-BE5F-078DBB949990}" type="presOf" srcId="{A403D956-3910-4752-9950-F3388DFF179A}" destId="{2532504F-5FE1-4C97-B485-F05E8885EACC}" srcOrd="0" destOrd="4" presId="urn:microsoft.com/office/officeart/2011/layout/InterconnectedBlockProcess"/>
    <dgm:cxn modelId="{480B4293-021F-40DE-A6BD-56C150E068F1}" type="presOf" srcId="{F2F08B6E-204F-4E12-A256-7B104FC897B0}" destId="{6BCCFBA6-7A43-4631-AD7F-AFB10E1E6CD7}" srcOrd="1" destOrd="1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EA2A1896-6947-4CAF-A46E-09D0E2CB0282}" type="presOf" srcId="{045A5D7F-C2AB-4191-BA8F-47AA8FEC83E0}" destId="{2532504F-5FE1-4C97-B485-F05E8885EACC}" srcOrd="0" destOrd="3" presId="urn:microsoft.com/office/officeart/2011/layout/InterconnectedBlockProcess"/>
    <dgm:cxn modelId="{9BACD39A-0D4D-445F-8FD3-28C7D489C2DE}" srcId="{988D96B0-D16E-4763-B393-84178CF4FF50}" destId="{DD22D25B-0E06-4F5C-80E4-1BD744485501}" srcOrd="2" destOrd="0" parTransId="{9D488271-C6FE-4BC7-BA1C-5B11C3F717A6}" sibTransId="{CC3E38C6-31D2-446E-8B23-61A0D57A414A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A3888C9D-856A-4FD0-BA9D-3B107AD7A0C0}" type="presOf" srcId="{F2F08B6E-204F-4E12-A256-7B104FC897B0}" destId="{06F8D57B-EDF4-4CF4-8700-DC2CA3E3028E}" srcOrd="0" destOrd="1" presId="urn:microsoft.com/office/officeart/2011/layout/InterconnectedBlockProcess"/>
    <dgm:cxn modelId="{B648229F-F2D4-4EBF-ACF4-AD3C4D08459E}" srcId="{988D96B0-D16E-4763-B393-84178CF4FF50}" destId="{48C648A3-C8FD-43F0-B698-A07DB3DCAB66}" srcOrd="1" destOrd="0" parTransId="{B830CD12-E303-42F8-BC6C-428883ECAC33}" sibTransId="{CFF5EC4E-770F-449D-9879-34CA591337F1}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776EFAA6-29E6-4D82-9E1F-0372A981475C}" type="presOf" srcId="{D9353DC7-B88A-4058-BFE3-9A95B765A4A5}" destId="{E9AB1205-B9BA-4AAB-B401-6EC612149C68}" srcOrd="1" destOrd="2" presId="urn:microsoft.com/office/officeart/2011/layout/InterconnectedBlockProcess"/>
    <dgm:cxn modelId="{72A762AC-BD67-491C-B2D3-786AA6B8F077}" type="presOf" srcId="{416D090E-C2E6-4B30-ADA7-2E1319AF039B}" destId="{FC0F1314-3294-4A8C-8DCE-EB53E236164C}" srcOrd="0" destOrd="0" presId="urn:microsoft.com/office/officeart/2011/layout/InterconnectedBlockProcess"/>
    <dgm:cxn modelId="{6F8C10AF-260C-41A6-B340-2668033FE3BB}" srcId="{A59EC69B-8F3F-425B-819F-E8C557946AEE}" destId="{045A5D7F-C2AB-4191-BA8F-47AA8FEC83E0}" srcOrd="3" destOrd="0" parTransId="{5B2FA718-49A9-4090-A109-777F17DD0A32}" sibTransId="{2592FFED-CF28-40BA-AF9F-556275DF9250}"/>
    <dgm:cxn modelId="{4969F8B3-9874-4462-93B2-14A2DE53307C}" type="presOf" srcId="{B7A1ED8F-483B-4010-9724-26083E59FEBF}" destId="{06F8D57B-EDF4-4CF4-8700-DC2CA3E3028E}" srcOrd="0" destOrd="2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A0D5FEB9-6C82-4475-A03C-9032BBD99133}" type="presOf" srcId="{93FAC282-2A06-4022-B014-672DEE0B8DF2}" destId="{8CAE5A4D-0C7B-48A6-917B-0B8433D0574B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90B750C2-8DA9-46A6-BD9C-6A781E2C1812}" type="presOf" srcId="{8C0A20F4-68FF-4205-B57A-3A5A5F0C10F6}" destId="{6BCCFBA6-7A43-4631-AD7F-AFB10E1E6CD7}" srcOrd="1" destOrd="3" presId="urn:microsoft.com/office/officeart/2011/layout/InterconnectedBlockProcess"/>
    <dgm:cxn modelId="{D1634ACD-DAE8-4D18-99D7-BC6AC3626E0D}" srcId="{5E92505A-51E0-4F78-B3C5-704ACF8710DE}" destId="{3E624DA9-8DA0-4C0F-8839-555AC51BB410}" srcOrd="2" destOrd="0" parTransId="{201C8DF5-35BB-4790-BE35-3F3B9000308E}" sibTransId="{A12DB998-4872-45E6-9E79-B2DCA4BA1250}"/>
    <dgm:cxn modelId="{51A65ACD-2695-4B81-848D-5162EBE68CD4}" type="presOf" srcId="{62FA8070-4844-4238-85C8-23D814FD1C00}" destId="{8CAE5A4D-0C7B-48A6-917B-0B8433D0574B}" srcOrd="0" destOrd="1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69AE08D5-F62D-4CD0-B098-675EBEE86CEE}" type="presOf" srcId="{DCB4C461-15BD-42C3-B566-D7F7ABBC5938}" destId="{98225A61-A0EC-450A-BED8-EF2E47E8FD18}" srcOrd="1" destOrd="1" presId="urn:microsoft.com/office/officeart/2011/layout/InterconnectedBlockProcess"/>
    <dgm:cxn modelId="{A9E71CDB-A854-419E-88AD-622F9A393363}" type="presOf" srcId="{563E3ECE-9356-4B87-982C-8561EF942A8B}" destId="{0D08ED52-6744-4369-B780-916B09984775}" srcOrd="1" destOrd="1" presId="urn:microsoft.com/office/officeart/2011/layout/InterconnectedBlockProcess"/>
    <dgm:cxn modelId="{60132ADD-EC38-46A1-B6DE-88A85B1DF462}" type="presOf" srcId="{6A927E9D-76C8-4373-8354-88E8FBA5B5FD}" destId="{E9AB1205-B9BA-4AAB-B401-6EC612149C68}" srcOrd="1" destOrd="4" presId="urn:microsoft.com/office/officeart/2011/layout/InterconnectedBlockProcess"/>
    <dgm:cxn modelId="{B59C0FE2-3FD7-4C63-86B9-766E073492C8}" type="presOf" srcId="{96605B8B-29FE-4BAF-8A02-B844F56B00DA}" destId="{0D08ED52-6744-4369-B780-916B09984775}" srcOrd="1" destOrd="2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F79B1EE6-22C2-49B1-93E9-EE54E94837FA}" srcId="{5E92505A-51E0-4F78-B3C5-704ACF8710DE}" destId="{DCB4C461-15BD-42C3-B566-D7F7ABBC5938}" srcOrd="1" destOrd="0" parTransId="{FCD70C09-4CCD-48E6-A35F-A2D7351F5178}" sibTransId="{0E2C23F1-312C-46B7-8C00-EB0FF73CD32A}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B3BEB7E9-F147-4342-95A5-E6D2D157B30E}" srcId="{A59EC69B-8F3F-425B-819F-E8C557946AEE}" destId="{563E3ECE-9356-4B87-982C-8561EF942A8B}" srcOrd="1" destOrd="0" parTransId="{9BEF4D68-DE24-449C-90FB-75F14667362D}" sibTransId="{A1DBC110-78B1-422F-AEEC-191B47D12B98}"/>
    <dgm:cxn modelId="{A10A92EB-696A-4388-A5D8-14ADD687C07D}" type="presOf" srcId="{340A46C0-01E5-4615-BE8B-8B702F1FA3E0}" destId="{8CAE5A4D-0C7B-48A6-917B-0B8433D0574B}" srcOrd="0" destOrd="3" presId="urn:microsoft.com/office/officeart/2011/layout/InterconnectedBlockProcess"/>
    <dgm:cxn modelId="{C757E4ED-CC41-4317-A484-053E1445D83A}" srcId="{7B3055AA-BF7C-46D0-9A9E-60087B9F57B4}" destId="{8C0A20F4-68FF-4205-B57A-3A5A5F0C10F6}" srcOrd="3" destOrd="0" parTransId="{195AC951-932A-449F-949D-F7EBCD70658E}" sibTransId="{3A053721-FC03-4D3E-9BB3-5429B66D4547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B7F11AF2-20C9-4434-A087-429F55FA4583}" srcId="{7B3055AA-BF7C-46D0-9A9E-60087B9F57B4}" destId="{F2F08B6E-204F-4E12-A256-7B104FC897B0}" srcOrd="1" destOrd="0" parTransId="{B751F263-A573-4E8D-BAA8-708BAAC2CC19}" sibTransId="{BC1A7BF1-57C9-4192-AA2D-4640BF4C54BA}"/>
    <dgm:cxn modelId="{1E901BF6-2660-410C-ACB9-E4539F99D8C7}" srcId="{65C051F6-A849-4495-A964-CD4C650B9C06}" destId="{340A46C0-01E5-4615-BE8B-8B702F1FA3E0}" srcOrd="3" destOrd="0" parTransId="{C6F82995-9B83-4399-95B7-2ED602B2842C}" sibTransId="{B436BB07-A63C-4998-93FE-3B4DD19FE7BC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FBA205F8-2882-4560-9366-A208E2878B4D}" type="presOf" srcId="{8C0A20F4-68FF-4205-B57A-3A5A5F0C10F6}" destId="{06F8D57B-EDF4-4CF4-8700-DC2CA3E3028E}" srcOrd="0" destOrd="3" presId="urn:microsoft.com/office/officeart/2011/layout/InterconnectedBlockProcess"/>
    <dgm:cxn modelId="{AF1447F8-096A-45A3-8619-7AF4A1826485}" type="presOf" srcId="{D9353DC7-B88A-4058-BFE3-9A95B765A4A5}" destId="{8CAE5A4D-0C7B-48A6-917B-0B8433D0574B}" srcOrd="0" destOrd="2" presId="urn:microsoft.com/office/officeart/2011/layout/InterconnectedBlockProcess"/>
    <dgm:cxn modelId="{0A3786C0-AA73-47C4-807A-4258DADDF21C}" type="presParOf" srcId="{A6BCDA7B-D633-438F-B44D-CB4D60E5C492}" destId="{4B03E4CC-F9FB-446F-814A-68422A5B6775}" srcOrd="0" destOrd="0" presId="urn:microsoft.com/office/officeart/2011/layout/InterconnectedBlockProcess"/>
    <dgm:cxn modelId="{6A75D641-1564-46DA-92C8-101D3071933D}" type="presParOf" srcId="{4B03E4CC-F9FB-446F-814A-68422A5B6775}" destId="{8CAE5A4D-0C7B-48A6-917B-0B8433D0574B}" srcOrd="0" destOrd="0" presId="urn:microsoft.com/office/officeart/2011/layout/InterconnectedBlockProcess"/>
    <dgm:cxn modelId="{EF3DCEC3-527C-48CE-8F4C-BD875281AC4A}" type="presParOf" srcId="{A6BCDA7B-D633-438F-B44D-CB4D60E5C492}" destId="{E9AB1205-B9BA-4AAB-B401-6EC612149C68}" srcOrd="1" destOrd="0" presId="urn:microsoft.com/office/officeart/2011/layout/InterconnectedBlockProcess"/>
    <dgm:cxn modelId="{DB8712EA-BD93-4713-8AA8-27A954D570D6}" type="presParOf" srcId="{A6BCDA7B-D633-438F-B44D-CB4D60E5C492}" destId="{2B7C98A0-60DA-4897-B5E2-5081B486904F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Complete system deployment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Final testing and validation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Project demonstration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Final report submission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Internship completion</a:t>
          </a:r>
          <a:endParaRPr lang="en-IN" sz="1100" kern="1200" dirty="0"/>
        </a:p>
      </dsp:txBody>
      <dsp:txXfrm>
        <a:off x="7335949" y="811639"/>
        <a:ext cx="1116055" cy="3246556"/>
      </dsp:txXfrm>
    </dsp:sp>
    <dsp:sp modelId="{2B7C98A0-60DA-4897-B5E2-5081B486904F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Integrating frontend with backend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Implementing live camera recognition</a:t>
          </a:r>
          <a:endParaRPr lang="en-US" sz="1100" kern="1200" dirty="0"/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Testing face detection and attendance marking</a:t>
          </a:r>
          <a:endParaRPr lang="en-US" sz="1100" kern="1200" dirty="0"/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Improving accuracy and performance</a:t>
          </a:r>
          <a:endParaRPr lang="en-IN" sz="1100" kern="1200"/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Designing system architecture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Developing backend using Flask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Creating frontend using React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Dataset collection and face encoding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Git Hub repository setup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Learning basics of Face Recognition and AI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Learning basics of Face Recognition and AI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  <a:endParaRPr lang="en-US" sz="110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  <a:endParaRPr lang="en-IN" sz="1100" kern="1200" dirty="0"/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12/03/2026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Mr</a:t>
            </a:r>
            <a:r>
              <a:rPr lang="en-GB" sz="17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. Sakthi S 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Assistant Professor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B. Tech (CSE)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 R. Balakrishnan, Mr. Sakthi S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AI-Based Face Recognition Attendance Management System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568184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Tejashwini BV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0"/>
            <a:ext cx="10515600" cy="4193176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Rail Wheel Factory (RWF) 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a Government of India organization under the Ministry of Railways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Located in Yelahanka, Bengaluru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modernization and digitalization of internal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software and IT solutions to improve data management and efficiency.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Products &amp; Services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manufacturing and maintenance support to Indian Railways.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technical and engineering services for railway infrastructure.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digital systems for data management and internal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125" y="1184366"/>
            <a:ext cx="10594675" cy="4724727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Domain: Artificial Intelligence &amp; Computer Vision		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project is based 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Artificial Intelligence (AI)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Computer Vision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technologies.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 uses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Face Recognition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automatically identify employees/students.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captures live video and detects human faces in real time.</a:t>
            </a:r>
          </a:p>
          <a:p>
            <a:pPr lvl="1"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Technologies Used</a:t>
            </a:r>
          </a:p>
          <a:p>
            <a:pPr lvl="1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Frontend: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React.js, JavaScript.</a:t>
            </a:r>
          </a:p>
          <a:p>
            <a:pPr lvl="1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Python, Flask.</a:t>
            </a:r>
          </a:p>
          <a:p>
            <a:pPr lvl="1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Database: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MongoDB.</a:t>
            </a:r>
          </a:p>
          <a:p>
            <a:pPr lvl="1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AI Libraries: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OpenCV, Insight Face.</a:t>
            </a:r>
          </a:p>
          <a:p>
            <a:pPr lvl="1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Tools: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Leader: Tejashwini BV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Manager: Buddha Apparao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under guidance with structured tasks and regular reviews.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560825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Difficulties with library installation, dependency management, and environment configuration.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integration issues and OpenCV-related errors during development.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optimizing system accuracy and improving overall performance.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management difficulties while balancing learning new technologies and active project development.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Steep learning curve in understanding AI concepts and face recognition algorithms.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an AI-based face recognition system that automatically marks attendance.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work and avoid errors in traditional attendance methods.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machine learning for real-time face detection and recognition.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securely store and manage attendance data using a database.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user-friendly web interface using React and Flask.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speed, accuracy, and efficiency of attendance management at Rail Wheel Factory.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487" y="-422693"/>
            <a:ext cx="10672313" cy="1466489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1883A6F-5B09-524E-86A8-09F00E0AB3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9230568"/>
              </p:ext>
            </p:extLst>
          </p:nvPr>
        </p:nvGraphicFramePr>
        <p:xfrm>
          <a:off x="681485" y="595224"/>
          <a:ext cx="10672312" cy="5092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707">
                  <a:extLst>
                    <a:ext uri="{9D8B030D-6E8A-4147-A177-3AD203B41FA5}">
                      <a16:colId xmlns:a16="http://schemas.microsoft.com/office/drawing/2014/main" val="233639814"/>
                    </a:ext>
                  </a:extLst>
                </a:gridCol>
                <a:gridCol w="3398808">
                  <a:extLst>
                    <a:ext uri="{9D8B030D-6E8A-4147-A177-3AD203B41FA5}">
                      <a16:colId xmlns:a16="http://schemas.microsoft.com/office/drawing/2014/main" val="2658282609"/>
                    </a:ext>
                  </a:extLst>
                </a:gridCol>
                <a:gridCol w="698740">
                  <a:extLst>
                    <a:ext uri="{9D8B030D-6E8A-4147-A177-3AD203B41FA5}">
                      <a16:colId xmlns:a16="http://schemas.microsoft.com/office/drawing/2014/main" val="3826580831"/>
                    </a:ext>
                  </a:extLst>
                </a:gridCol>
                <a:gridCol w="1509209">
                  <a:extLst>
                    <a:ext uri="{9D8B030D-6E8A-4147-A177-3AD203B41FA5}">
                      <a16:colId xmlns:a16="http://schemas.microsoft.com/office/drawing/2014/main" val="338042593"/>
                    </a:ext>
                  </a:extLst>
                </a:gridCol>
                <a:gridCol w="1524616">
                  <a:extLst>
                    <a:ext uri="{9D8B030D-6E8A-4147-A177-3AD203B41FA5}">
                      <a16:colId xmlns:a16="http://schemas.microsoft.com/office/drawing/2014/main" val="4006879472"/>
                    </a:ext>
                  </a:extLst>
                </a:gridCol>
                <a:gridCol w="1524616">
                  <a:extLst>
                    <a:ext uri="{9D8B030D-6E8A-4147-A177-3AD203B41FA5}">
                      <a16:colId xmlns:a16="http://schemas.microsoft.com/office/drawing/2014/main" val="1417913373"/>
                    </a:ext>
                  </a:extLst>
                </a:gridCol>
                <a:gridCol w="1524616">
                  <a:extLst>
                    <a:ext uri="{9D8B030D-6E8A-4147-A177-3AD203B41FA5}">
                      <a16:colId xmlns:a16="http://schemas.microsoft.com/office/drawing/2014/main" val="690554251"/>
                    </a:ext>
                  </a:extLst>
                </a:gridCol>
              </a:tblGrid>
              <a:tr h="5003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 / Techniques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Domain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59603"/>
                  </a:ext>
                </a:extLst>
              </a:tr>
              <a:tr h="733442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Efficiency in SMEs Attendance Monitoring: Low Cost Artificial Intelligence Facial Recognition Mobile Application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P-Net, R-Net + O-Net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Attendance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and Data Security Concerns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902108"/>
                  </a:ext>
                </a:extLst>
              </a:tr>
              <a:tr h="493431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Student Face Recognition Attendance System Using AI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and 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concerns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(face data security)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IARJSET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915895"/>
                  </a:ext>
                </a:extLst>
              </a:tr>
              <a:tr h="472216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Tensor flow, Computer Vision, and Edge Ai-Based Face Recognition Attendance Monitoring System Using Raspberry Pi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MobileNetV2 + Face 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Internet Dependency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Processing 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859608"/>
                  </a:ext>
                </a:extLst>
              </a:tr>
              <a:tr h="472216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AI-Based Face Recognition Attendance Management System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SSD + OpenCV</a:t>
                      </a:r>
                      <a:endParaRPr lang="fi-FI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Portable and 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hardware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IJIRMPS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5721"/>
                  </a:ext>
                </a:extLst>
              </a:tr>
              <a:tr h="472216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Attendance Tracking Using AI-Based Face Recognition and Absence Alerts for Educational Institutes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OpenCV + Face 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 taken automatically within seconds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strict compliance with privacy laws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Atlantis press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17323"/>
                  </a:ext>
                </a:extLst>
              </a:tr>
              <a:tr h="472216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Artificial Intelligence based Multi-Face Recognition and Attendance Marking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Haar Cascade +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Simultaneous Multi-Face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Concerns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936960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8467"/>
            <a:ext cx="10515600" cy="3914093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proposed system is an AI-based Face Recognition Attendance System developed using Python, Flask, and React.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 captures live video from the camera and detects faces using OpenCV and Insight Face.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compares captured faces with trained datasets to identify registered users.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Attendance is automatically recorded in the database with date and time.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 web-based dashboard is provided for managing users, viewing attendance, and reports.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Manual attendance is time-consuming.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Chances of proxy and fake attendance.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Difficult to maintain records.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Requires more manpower.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Need for automated AI-based system.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767859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Computer / Laptop with minimum i3 processor or above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Minimum 8 GB RAM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Webcam / Integrated Camera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Internet Connection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Software Requirements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Operating System: Windows 10 / 11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Programming Language: Python 3.x, JavaScript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Backend Framework: Flask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Frontend Framework: React.js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Database: MongoDB 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Libraries: OpenCV, Insight Face, NumPy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517693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Automatic attendance marking using face recognition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Reduces manual work and human errors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Saves time and improves efficiency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Prevents proxy / fake attendance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Provides accurate and real-time attendance records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Easy to use and user-friendly interface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Data can be stored and managed digitally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Can be integrated with existing systems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Suitable for schools, colleges, and industries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DF3DB45-0B96-9E5B-B944-4E1DBA75ED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861" y="442763"/>
            <a:ext cx="6594320" cy="5482854"/>
          </a:xfrm>
        </p:spPr>
      </p:pic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F6B8-D109-B4C8-AE3E-B99BCFB92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192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2E8AD-F61E-21DB-2F53-6648D74F2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310" y="1377052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Face Algorithm: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dataset folder containing subfolders for each person with their face images.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subfolder name represents the person’s identity (label).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Face Detection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buffalo_l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detect faces in images.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scans the image and locates the face bounding box.</a:t>
            </a:r>
          </a:p>
          <a:p>
            <a:endParaRPr lang="en-US" dirty="0"/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9C33F-9F3E-441B-9070-98F9E622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80BE65-A1D2-E03C-0273-B698DAC53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423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4915D-AA63-C6A4-313B-1E96C0850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548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92BAA-1A62-7703-32B1-E29362F78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36" y="1158665"/>
            <a:ext cx="10515600" cy="45406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Alignment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detected face is aligned using facial landmarks (eyes, nose, mouth) for better accuracy.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Storage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embeddings are saved in a file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embeddings.pkl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using pickle for later recognition.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Camera Input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webcam captures real-time video frames using OpenCV.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Face Detection in Live Video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detects faces in each video frame.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1A28D-6B18-A760-D62A-F947E5C4E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B1B9B-BF72-C28B-F894-25906CA59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607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AF89-841E-B103-5976-39A56956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218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E7506-14A6-C79C-8AC0-C10252F32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562" y="1345719"/>
            <a:ext cx="10515600" cy="479628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Embedding Extraction from Live Face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embeddings for detected faces in real time.</a:t>
            </a:r>
          </a:p>
          <a:p>
            <a:pPr marL="0" indent="0" algn="just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Face Identification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assigns the name of the closest matching embedding.</a:t>
            </a:r>
          </a:p>
          <a:p>
            <a:pPr marL="0" indent="0" algn="just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Unknown Detection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embedding matches the threshold, the person is labeled “Unknown”.</a:t>
            </a:r>
          </a:p>
          <a:p>
            <a:pPr marL="0" indent="0" algn="just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Output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draws a bounding box and displays the person’s name on the screen.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9C597-8FA6-7FA8-67BB-52C65FF79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2375A-B1F9-2B7C-371E-59126A15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1421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C5904-2B2E-CF6D-4066-C729ECE1C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3781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01C4B-5251-EC9C-5C4E-DC32E963D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717" y="1130060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Interaction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plays a welcome voice message for recognized persons using text-to-speech.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Alert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triggers a beep alarm when an unknown person is detected.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Duplicate Control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time gap rule (10 seconds) prevents multiple attendance entries for the same person.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D47F0-3953-92F0-1B08-3445EC8F2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D92C1-7F60-A1BD-B098-1A0850DA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4634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298" y="136525"/>
            <a:ext cx="10515600" cy="510456"/>
          </a:xfrm>
        </p:spPr>
        <p:txBody>
          <a:bodyPr>
            <a:normAutofit fontScale="90000"/>
          </a:bodyPr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2079EF-BFD6-6592-02DD-4DAFE1CF9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7706" y="646981"/>
            <a:ext cx="6901132" cy="522760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91A97-C6F2-6F1B-9C3B-FF27165F7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35C59-71AA-8EF7-45EF-7EAE0CEC3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887"/>
            <a:ext cx="10515600" cy="432183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Dataset Folder:</a:t>
            </a:r>
            <a:endParaRPr lang="en-IN" b="1" dirty="0"/>
          </a:p>
          <a:p>
            <a:pPr algn="just"/>
            <a:r>
              <a:rPr lang="en-US" dirty="0"/>
              <a:t>Contains all registered users’ face images organized (often one folder per person).</a:t>
            </a:r>
          </a:p>
          <a:p>
            <a:pPr algn="just"/>
            <a:r>
              <a:rPr lang="en-US" dirty="0"/>
              <a:t>Used as the </a:t>
            </a:r>
            <a:r>
              <a:rPr lang="en-US" b="1" dirty="0"/>
              <a:t>training source</a:t>
            </a:r>
            <a:r>
              <a:rPr lang="en-US" dirty="0"/>
              <a:t> for the system to learn facial features.</a:t>
            </a:r>
          </a:p>
          <a:p>
            <a:pPr algn="just"/>
            <a:r>
              <a:rPr lang="en-US" dirty="0"/>
              <a:t>Images should have clear faces with different angles and lighting.</a:t>
            </a:r>
          </a:p>
          <a:p>
            <a:pPr algn="just"/>
            <a:r>
              <a:rPr lang="en-US" dirty="0"/>
              <a:t>Each image is labeled with the </a:t>
            </a:r>
            <a:r>
              <a:rPr lang="en-US" b="1" dirty="0"/>
              <a:t>person’s name or ID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face recognition model reads these images to generate </a:t>
            </a:r>
            <a:r>
              <a:rPr lang="en-US" b="1" dirty="0"/>
              <a:t>face encodings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14E28-7107-EBF6-0115-3AAF62F4B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5CD93E-BC72-AD0D-8E68-60F84800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8497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7EF32-F920-23BF-9756-B819F5727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Execution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7EFED-DD7B-E15F-B1C2-AA9F851F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02B17-54C4-2DD7-3A42-CF97293F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20</a:t>
            </a:fld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BF4A49A-9C3F-114D-9962-AE9847C4CF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690689"/>
            <a:ext cx="7735712" cy="4123516"/>
          </a:xfrm>
        </p:spPr>
      </p:pic>
    </p:spTree>
    <p:extLst>
      <p:ext uri="{BB962C8B-B14F-4D97-AF65-F5344CB8AC3E}">
        <p14:creationId xmlns:p14="http://schemas.microsoft.com/office/powerpoint/2010/main" val="2920202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21853-99F7-6F4A-FC33-195845B7F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D50F1-A83E-A923-0C61-E313F6627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755"/>
            <a:ext cx="10515600" cy="4278702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/>
              <a:t>2. Face Encoding Module</a:t>
            </a:r>
            <a:endParaRPr lang="en-US" dirty="0"/>
          </a:p>
          <a:p>
            <a:pPr algn="just"/>
            <a:r>
              <a:rPr lang="en-US" dirty="0"/>
              <a:t>Detects faces from images or camera frames using a face detection algorithm.</a:t>
            </a:r>
          </a:p>
          <a:p>
            <a:pPr algn="just"/>
            <a:r>
              <a:rPr lang="en-US" dirty="0"/>
              <a:t>Extracts unique facial features such as eyes, nose, and face structure.</a:t>
            </a:r>
          </a:p>
          <a:p>
            <a:pPr algn="just"/>
            <a:r>
              <a:rPr lang="en-US" dirty="0"/>
              <a:t>Converts the detected face into a </a:t>
            </a:r>
            <a:r>
              <a:rPr lang="en-US" b="1" dirty="0"/>
              <a:t>numerical vector representation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Uses libraries like </a:t>
            </a:r>
            <a:r>
              <a:rPr lang="en-US" b="1" dirty="0"/>
              <a:t>OpenCV or face recognition</a:t>
            </a:r>
            <a:r>
              <a:rPr lang="en-US" dirty="0"/>
              <a:t> to generate encodings.</a:t>
            </a:r>
          </a:p>
          <a:p>
            <a:pPr algn="just"/>
            <a:r>
              <a:rPr lang="en-US" dirty="0"/>
              <a:t>These encodings are used to compare and identify faces during attendance.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A43A6-214B-F0A8-45FC-77F725AE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4EFBE8-26E9-3C1A-FC56-B3CBD885D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1619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99FE2-B8D1-C3CA-7A9A-290CD72AD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2354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Execution</a:t>
            </a:r>
            <a:endParaRPr lang="en-IN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0AA8B21-46C1-A3F7-B874-084CCA65F7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509623"/>
            <a:ext cx="7735712" cy="430458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81DF8-82FF-CBBF-4A19-2C1312029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3E8AE-5FE9-5AED-BD8E-72CB6943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176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8C55B-9406-D206-EC98-DF76A77C8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960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FE3C5-D0EE-04F7-2DDF-7DF903674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168AD-9AD2-0B05-DBD0-6A5618BDB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C89DD49-60F9-16E8-F3F7-5E706D1C19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08770"/>
            <a:ext cx="1065218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b="1" dirty="0"/>
              <a:t>3. Stored Face Vectors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Numerical representations (usually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128-dimension vectors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of each person’s face.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Generated from the dataset images during the encoding process.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Stored in files or databases along with the person’s name/ID.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recognition, the system compares live face vectors with stored vectors.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similarity distance is below a threshold, the person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recognized and attendance is marked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9734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DFDF1-BAB1-0C44-B46C-7D44CA770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Execution</a:t>
            </a:r>
            <a:endParaRPr lang="en-IN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5EF039A-C1F1-BAA2-F6A0-E923233C1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121" y="1509533"/>
            <a:ext cx="7735712" cy="422703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63AE6-ADB4-B017-24A7-D6A95EF6D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C06E3-9032-9C15-288E-2A6FEDC82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1583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DA33B-C24A-9F1A-A687-4911F2108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609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Execution</a:t>
            </a:r>
            <a:endParaRPr lang="en-IN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AA1D6C4-7870-1C1D-4E2A-B84C68797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627" y="1475118"/>
            <a:ext cx="7735712" cy="420415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7C04A-FC9A-AC35-18CD-D77142DD7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6CAFF-8424-7733-DAA6-E215BBC16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656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526831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https://github.com/tejaswinireddy3232-blip/Internship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28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7214</TotalTime>
  <Words>1604</Words>
  <Application>Microsoft Office PowerPoint</Application>
  <PresentationFormat>Widescreen</PresentationFormat>
  <Paragraphs>291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Algorithm</vt:lpstr>
      <vt:lpstr>Algorithm</vt:lpstr>
      <vt:lpstr>Algorithm</vt:lpstr>
      <vt:lpstr>Algorithm</vt:lpstr>
      <vt:lpstr>System Implementation (At least 50%)</vt:lpstr>
      <vt:lpstr>System Implementation (At least 50%)</vt:lpstr>
      <vt:lpstr>System Execution</vt:lpstr>
      <vt:lpstr>System Implementation (At least 50%)</vt:lpstr>
      <vt:lpstr>System Execution</vt:lpstr>
      <vt:lpstr>System Implementation (At least 50%)</vt:lpstr>
      <vt:lpstr>System Execution</vt:lpstr>
      <vt:lpstr>System Execution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TEJASHWINI B V</cp:lastModifiedBy>
  <cp:revision>727</cp:revision>
  <dcterms:created xsi:type="dcterms:W3CDTF">2022-10-14T07:18:17Z</dcterms:created>
  <dcterms:modified xsi:type="dcterms:W3CDTF">2026-03-12T04:50:54Z</dcterms:modified>
</cp:coreProperties>
</file>